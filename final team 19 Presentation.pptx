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Barlow SemiCondensed Bold" charset="1" panose="00000806000000000000"/>
      <p:regular r:id="rId19"/>
    </p:embeddedFont>
    <p:embeddedFont>
      <p:font typeface="Work Sans" charset="1" panose="00000000000000000000"/>
      <p:regular r:id="rId20"/>
    </p:embeddedFont>
    <p:embeddedFont>
      <p:font typeface="Work Sans Bold" charset="1" panose="00000000000000000000"/>
      <p:regular r:id="rId21"/>
    </p:embeddedFont>
    <p:embeddedFont>
      <p:font typeface="Work Sans Italics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jpe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4323" y="7226864"/>
            <a:ext cx="2785070" cy="3301269"/>
          </a:xfrm>
          <a:custGeom>
            <a:avLst/>
            <a:gdLst/>
            <a:ahLst/>
            <a:cxnLst/>
            <a:rect r="r" b="b" t="t" l="l"/>
            <a:pathLst>
              <a:path h="3301269" w="2785070">
                <a:moveTo>
                  <a:pt x="0" y="0"/>
                </a:moveTo>
                <a:lnTo>
                  <a:pt x="2785070" y="0"/>
                </a:lnTo>
                <a:lnTo>
                  <a:pt x="2785070" y="3301269"/>
                </a:lnTo>
                <a:lnTo>
                  <a:pt x="0" y="33012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588736" y="-1070386"/>
            <a:ext cx="2481021" cy="2940865"/>
          </a:xfrm>
          <a:custGeom>
            <a:avLst/>
            <a:gdLst/>
            <a:ahLst/>
            <a:cxnLst/>
            <a:rect r="r" b="b" t="t" l="l"/>
            <a:pathLst>
              <a:path h="2940865" w="2481021">
                <a:moveTo>
                  <a:pt x="2481021" y="2940865"/>
                </a:moveTo>
                <a:lnTo>
                  <a:pt x="0" y="2940865"/>
                </a:lnTo>
                <a:lnTo>
                  <a:pt x="0" y="0"/>
                </a:lnTo>
                <a:lnTo>
                  <a:pt x="2481021" y="0"/>
                </a:lnTo>
                <a:lnTo>
                  <a:pt x="2481021" y="294086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7061" y="6997418"/>
            <a:ext cx="845876" cy="861541"/>
          </a:xfrm>
          <a:custGeom>
            <a:avLst/>
            <a:gdLst/>
            <a:ahLst/>
            <a:cxnLst/>
            <a:rect r="r" b="b" t="t" l="l"/>
            <a:pathLst>
              <a:path h="861541" w="845876">
                <a:moveTo>
                  <a:pt x="0" y="0"/>
                </a:moveTo>
                <a:lnTo>
                  <a:pt x="845877" y="0"/>
                </a:lnTo>
                <a:lnTo>
                  <a:pt x="845877" y="861541"/>
                </a:lnTo>
                <a:lnTo>
                  <a:pt x="0" y="861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7002921" y="1449665"/>
            <a:ext cx="826325" cy="841628"/>
          </a:xfrm>
          <a:custGeom>
            <a:avLst/>
            <a:gdLst/>
            <a:ahLst/>
            <a:cxnLst/>
            <a:rect r="r" b="b" t="t" l="l"/>
            <a:pathLst>
              <a:path h="841628" w="826325">
                <a:moveTo>
                  <a:pt x="826326" y="841628"/>
                </a:moveTo>
                <a:lnTo>
                  <a:pt x="0" y="841628"/>
                </a:lnTo>
                <a:lnTo>
                  <a:pt x="0" y="0"/>
                </a:lnTo>
                <a:lnTo>
                  <a:pt x="826326" y="0"/>
                </a:lnTo>
                <a:lnTo>
                  <a:pt x="826326" y="84162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270881" y="8022214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5633392" y="0"/>
                </a:moveTo>
                <a:lnTo>
                  <a:pt x="0" y="0"/>
                </a:lnTo>
                <a:lnTo>
                  <a:pt x="0" y="3404352"/>
                </a:lnTo>
                <a:lnTo>
                  <a:pt x="5633392" y="3404352"/>
                </a:lnTo>
                <a:lnTo>
                  <a:pt x="563339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572494" y="-1186685"/>
            <a:ext cx="5755226" cy="3477978"/>
          </a:xfrm>
          <a:custGeom>
            <a:avLst/>
            <a:gdLst/>
            <a:ahLst/>
            <a:cxnLst/>
            <a:rect r="r" b="b" t="t" l="l"/>
            <a:pathLst>
              <a:path h="3477978" w="5755226">
                <a:moveTo>
                  <a:pt x="0" y="3477978"/>
                </a:moveTo>
                <a:lnTo>
                  <a:pt x="5755226" y="3477978"/>
                </a:lnTo>
                <a:lnTo>
                  <a:pt x="5755226" y="0"/>
                </a:lnTo>
                <a:lnTo>
                  <a:pt x="0" y="0"/>
                </a:lnTo>
                <a:lnTo>
                  <a:pt x="0" y="347797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188289" y="7422506"/>
            <a:ext cx="5452866" cy="1835794"/>
            <a:chOff x="0" y="0"/>
            <a:chExt cx="884053" cy="2976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84053" cy="297631"/>
            </a:xfrm>
            <a:custGeom>
              <a:avLst/>
              <a:gdLst/>
              <a:ahLst/>
              <a:cxnLst/>
              <a:rect r="r" b="b" t="t" l="l"/>
              <a:pathLst>
                <a:path h="297631" w="884053">
                  <a:moveTo>
                    <a:pt x="37713" y="0"/>
                  </a:moveTo>
                  <a:lnTo>
                    <a:pt x="846340" y="0"/>
                  </a:lnTo>
                  <a:cubicBezTo>
                    <a:pt x="867168" y="0"/>
                    <a:pt x="884053" y="16885"/>
                    <a:pt x="884053" y="37713"/>
                  </a:cubicBezTo>
                  <a:lnTo>
                    <a:pt x="884053" y="259917"/>
                  </a:lnTo>
                  <a:cubicBezTo>
                    <a:pt x="884053" y="280746"/>
                    <a:pt x="867168" y="297631"/>
                    <a:pt x="846340" y="297631"/>
                  </a:cubicBezTo>
                  <a:lnTo>
                    <a:pt x="37713" y="297631"/>
                  </a:lnTo>
                  <a:cubicBezTo>
                    <a:pt x="16885" y="297631"/>
                    <a:pt x="0" y="280746"/>
                    <a:pt x="0" y="259917"/>
                  </a:cubicBezTo>
                  <a:lnTo>
                    <a:pt x="0" y="37713"/>
                  </a:lnTo>
                  <a:cubicBezTo>
                    <a:pt x="0" y="16885"/>
                    <a:pt x="16885" y="0"/>
                    <a:pt x="37713" y="0"/>
                  </a:cubicBezTo>
                  <a:close/>
                </a:path>
              </a:pathLst>
            </a:custGeom>
            <a:ln w="38100" cap="rnd">
              <a:solidFill>
                <a:srgbClr val="3A5F7D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884053" cy="3452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025124" y="1545852"/>
            <a:ext cx="9322529" cy="531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51"/>
              </a:lnSpc>
            </a:pPr>
            <a:r>
              <a:rPr lang="en-US" b="true" sz="10107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BLOOD CELL SUBTYPE ID</a:t>
            </a:r>
            <a:r>
              <a:rPr lang="en-US" b="true" sz="10107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ENTIFIER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67307" y="7393935"/>
            <a:ext cx="4894830" cy="181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4"/>
              </a:lnSpc>
            </a:pPr>
            <a:r>
              <a:rPr lang="en-US" sz="3474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By </a:t>
            </a:r>
          </a:p>
          <a:p>
            <a:pPr algn="l">
              <a:lnSpc>
                <a:spcPts val="4864"/>
              </a:lnSpc>
            </a:pPr>
            <a:r>
              <a:rPr lang="en-US" sz="3474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Pradeeshwaran R</a:t>
            </a:r>
          </a:p>
          <a:p>
            <a:pPr algn="l">
              <a:lnSpc>
                <a:spcPts val="4864"/>
              </a:lnSpc>
            </a:pPr>
            <a:r>
              <a:rPr lang="en-US" sz="3474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Ramesh 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09190" y="830206"/>
            <a:ext cx="8631082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073726" y="2353888"/>
            <a:ext cx="12278325" cy="6670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46551" indent="-373276" lvl="1">
              <a:lnSpc>
                <a:spcPts val="4840"/>
              </a:lnSpc>
              <a:buFont typeface="Arial"/>
              <a:buChar char="•"/>
            </a:pPr>
            <a:r>
              <a:rPr lang="en-US" sz="3457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Blood cell</a:t>
            </a:r>
            <a:r>
              <a:rPr lang="en-US" sz="3457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analysis is an important part of medical diagnosis.</a:t>
            </a:r>
          </a:p>
          <a:p>
            <a:pPr algn="just" marL="746551" indent="-373276" lvl="1">
              <a:lnSpc>
                <a:spcPts val="4840"/>
              </a:lnSpc>
              <a:buFont typeface="Arial"/>
              <a:buChar char="•"/>
            </a:pPr>
            <a:r>
              <a:rPr lang="en-US" sz="3457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Manual examination of microscopic blood-smear images can require significant time and expertise.</a:t>
            </a:r>
          </a:p>
          <a:p>
            <a:pPr algn="just" marL="746551" indent="-373276" lvl="1">
              <a:lnSpc>
                <a:spcPts val="4840"/>
              </a:lnSpc>
              <a:buFont typeface="Arial"/>
              <a:buChar char="•"/>
            </a:pPr>
            <a:r>
              <a:rPr lang="en-US" sz="3457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Different white blood cell (WBC) subtypes have different morphological characteristics.</a:t>
            </a:r>
          </a:p>
          <a:p>
            <a:pPr algn="just" marL="746551" indent="-373276" lvl="1">
              <a:lnSpc>
                <a:spcPts val="4840"/>
              </a:lnSpc>
              <a:buFont typeface="Arial"/>
              <a:buChar char="•"/>
            </a:pPr>
            <a:r>
              <a:rPr lang="en-US" sz="3457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Image processing and deep learning can assist in automatically identifying these cell types.</a:t>
            </a:r>
          </a:p>
          <a:p>
            <a:pPr algn="just" marL="746551" indent="-373276" lvl="1">
              <a:lnSpc>
                <a:spcPts val="4840"/>
              </a:lnSpc>
              <a:buFont typeface="Arial"/>
              <a:buChar char="•"/>
            </a:pPr>
            <a:r>
              <a:rPr lang="en-US" sz="3457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This project develops an automated system for WBC subtype classification and cell detection.</a:t>
            </a:r>
          </a:p>
          <a:p>
            <a:pPr algn="just">
              <a:lnSpc>
                <a:spcPts val="4840"/>
              </a:lnSpc>
            </a:pPr>
          </a:p>
        </p:txBody>
      </p:sp>
      <p:sp>
        <p:nvSpPr>
          <p:cNvPr name="AutoShape 4" id="4"/>
          <p:cNvSpPr/>
          <p:nvPr/>
        </p:nvSpPr>
        <p:spPr>
          <a:xfrm flipV="true">
            <a:off x="4856815" y="9014424"/>
            <a:ext cx="11217005" cy="9525"/>
          </a:xfrm>
          <a:prstGeom prst="line">
            <a:avLst/>
          </a:prstGeom>
          <a:ln cap="flat" w="19050">
            <a:solidFill>
              <a:srgbClr val="3A5F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6225283" y="8668356"/>
            <a:ext cx="724455" cy="54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40"/>
              </a:lnSpc>
            </a:pPr>
            <a:r>
              <a:rPr lang="en-US" sz="31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02</a:t>
            </a:r>
          </a:p>
        </p:txBody>
      </p:sp>
      <p:sp>
        <p:nvSpPr>
          <p:cNvPr name="Freeform 6" id="6"/>
          <p:cNvSpPr/>
          <p:nvPr/>
        </p:nvSpPr>
        <p:spPr>
          <a:xfrm flipH="false" flipV="true" rot="0">
            <a:off x="-130161" y="-149248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0" y="2390934"/>
                </a:moveTo>
                <a:lnTo>
                  <a:pt x="2017078" y="2390934"/>
                </a:lnTo>
                <a:lnTo>
                  <a:pt x="2017078" y="0"/>
                </a:lnTo>
                <a:lnTo>
                  <a:pt x="0" y="0"/>
                </a:lnTo>
                <a:lnTo>
                  <a:pt x="0" y="239093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6401083" y="-184286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2017078" y="2390934"/>
                </a:moveTo>
                <a:lnTo>
                  <a:pt x="0" y="2390934"/>
                </a:lnTo>
                <a:lnTo>
                  <a:pt x="0" y="0"/>
                </a:lnTo>
                <a:lnTo>
                  <a:pt x="2017078" y="0"/>
                </a:lnTo>
                <a:lnTo>
                  <a:pt x="2017078" y="239093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150313" y="6724080"/>
            <a:ext cx="1014180" cy="1032961"/>
          </a:xfrm>
          <a:custGeom>
            <a:avLst/>
            <a:gdLst/>
            <a:ahLst/>
            <a:cxnLst/>
            <a:rect r="r" b="b" t="t" l="l"/>
            <a:pathLst>
              <a:path h="1032961" w="1014180">
                <a:moveTo>
                  <a:pt x="1014180" y="1032961"/>
                </a:moveTo>
                <a:lnTo>
                  <a:pt x="0" y="1032961"/>
                </a:lnTo>
                <a:lnTo>
                  <a:pt x="0" y="0"/>
                </a:lnTo>
                <a:lnTo>
                  <a:pt x="1014180" y="0"/>
                </a:lnTo>
                <a:lnTo>
                  <a:pt x="1014180" y="103296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6225283" y="3255345"/>
            <a:ext cx="827719" cy="843047"/>
          </a:xfrm>
          <a:custGeom>
            <a:avLst/>
            <a:gdLst/>
            <a:ahLst/>
            <a:cxnLst/>
            <a:rect r="r" b="b" t="t" l="l"/>
            <a:pathLst>
              <a:path h="843047" w="827719">
                <a:moveTo>
                  <a:pt x="827719" y="843047"/>
                </a:moveTo>
                <a:lnTo>
                  <a:pt x="0" y="843047"/>
                </a:lnTo>
                <a:lnTo>
                  <a:pt x="0" y="0"/>
                </a:lnTo>
                <a:lnTo>
                  <a:pt x="827719" y="0"/>
                </a:lnTo>
                <a:lnTo>
                  <a:pt x="827719" y="84304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270881" y="8126989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5633392" y="0"/>
                </a:moveTo>
                <a:lnTo>
                  <a:pt x="0" y="0"/>
                </a:lnTo>
                <a:lnTo>
                  <a:pt x="0" y="3404352"/>
                </a:lnTo>
                <a:lnTo>
                  <a:pt x="5633392" y="3404352"/>
                </a:lnTo>
                <a:lnTo>
                  <a:pt x="56333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85073" y="8126989"/>
            <a:ext cx="2378604" cy="2422652"/>
          </a:xfrm>
          <a:custGeom>
            <a:avLst/>
            <a:gdLst/>
            <a:ahLst/>
            <a:cxnLst/>
            <a:rect r="r" b="b" t="t" l="l"/>
            <a:pathLst>
              <a:path h="2422652" w="2378604">
                <a:moveTo>
                  <a:pt x="0" y="0"/>
                </a:moveTo>
                <a:lnTo>
                  <a:pt x="2378604" y="0"/>
                </a:lnTo>
                <a:lnTo>
                  <a:pt x="2378604" y="2422652"/>
                </a:lnTo>
                <a:lnTo>
                  <a:pt x="0" y="2422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305119" y="3070941"/>
            <a:ext cx="3612315" cy="4976517"/>
            <a:chOff x="0" y="0"/>
            <a:chExt cx="6342380" cy="8737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28650" y="391160"/>
              <a:ext cx="5085080" cy="7955280"/>
            </a:xfrm>
            <a:custGeom>
              <a:avLst/>
              <a:gdLst/>
              <a:ahLst/>
              <a:cxnLst/>
              <a:rect r="r" b="b" t="t" l="l"/>
              <a:pathLst>
                <a:path h="7955280" w="5085080">
                  <a:moveTo>
                    <a:pt x="2542540" y="7955280"/>
                  </a:moveTo>
                  <a:cubicBezTo>
                    <a:pt x="1140460" y="7955280"/>
                    <a:pt x="0" y="6814820"/>
                    <a:pt x="0" y="5412740"/>
                  </a:cubicBezTo>
                  <a:lnTo>
                    <a:pt x="0" y="2542540"/>
                  </a:lnTo>
                  <a:cubicBezTo>
                    <a:pt x="0" y="1140460"/>
                    <a:pt x="1140460" y="0"/>
                    <a:pt x="2542540" y="0"/>
                  </a:cubicBezTo>
                  <a:cubicBezTo>
                    <a:pt x="3944620" y="0"/>
                    <a:pt x="5085080" y="1140460"/>
                    <a:pt x="5085080" y="2542540"/>
                  </a:cubicBezTo>
                  <a:lnTo>
                    <a:pt x="5085080" y="5412740"/>
                  </a:lnTo>
                  <a:cubicBezTo>
                    <a:pt x="5085080" y="6814820"/>
                    <a:pt x="3944620" y="7955280"/>
                    <a:pt x="2542540" y="7955280"/>
                  </a:cubicBezTo>
                  <a:close/>
                </a:path>
              </a:pathLst>
            </a:custGeom>
            <a:blipFill>
              <a:blip r:embed="rId6"/>
              <a:stretch>
                <a:fillRect l="-57244" t="0" r="-57244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42380" cy="8737600"/>
            </a:xfrm>
            <a:custGeom>
              <a:avLst/>
              <a:gdLst/>
              <a:ahLst/>
              <a:cxnLst/>
              <a:rect r="r" b="b" t="t" l="l"/>
              <a:pathLst>
                <a:path h="8737600" w="6342380">
                  <a:moveTo>
                    <a:pt x="3171190" y="381000"/>
                  </a:moveTo>
                  <a:cubicBezTo>
                    <a:pt x="1764030" y="381000"/>
                    <a:pt x="618490" y="1526540"/>
                    <a:pt x="618490" y="2933700"/>
                  </a:cubicBezTo>
                  <a:lnTo>
                    <a:pt x="618490" y="5803900"/>
                  </a:lnTo>
                  <a:cubicBezTo>
                    <a:pt x="618490" y="7211060"/>
                    <a:pt x="1764030" y="8356600"/>
                    <a:pt x="3171190" y="8356600"/>
                  </a:cubicBezTo>
                  <a:cubicBezTo>
                    <a:pt x="4578350" y="8356600"/>
                    <a:pt x="5723890" y="7211060"/>
                    <a:pt x="5723890" y="5803900"/>
                  </a:cubicBezTo>
                  <a:lnTo>
                    <a:pt x="5723890" y="2933700"/>
                  </a:lnTo>
                  <a:cubicBezTo>
                    <a:pt x="5723890" y="1526540"/>
                    <a:pt x="4578350" y="381000"/>
                    <a:pt x="3171190" y="381000"/>
                  </a:cubicBezTo>
                  <a:close/>
                  <a:moveTo>
                    <a:pt x="5704840" y="5803900"/>
                  </a:moveTo>
                  <a:cubicBezTo>
                    <a:pt x="5704840" y="7200900"/>
                    <a:pt x="4568190" y="8337550"/>
                    <a:pt x="3171190" y="8337550"/>
                  </a:cubicBezTo>
                  <a:cubicBezTo>
                    <a:pt x="1774190" y="8337550"/>
                    <a:pt x="637540" y="7200900"/>
                    <a:pt x="637540" y="5803900"/>
                  </a:cubicBezTo>
                  <a:lnTo>
                    <a:pt x="637540" y="2933700"/>
                  </a:lnTo>
                  <a:cubicBezTo>
                    <a:pt x="637540" y="1536700"/>
                    <a:pt x="1774190" y="400050"/>
                    <a:pt x="3171190" y="400050"/>
                  </a:cubicBezTo>
                  <a:cubicBezTo>
                    <a:pt x="4568190" y="400050"/>
                    <a:pt x="5704840" y="1536700"/>
                    <a:pt x="5704840" y="2933700"/>
                  </a:cubicBezTo>
                  <a:lnTo>
                    <a:pt x="5704840" y="5803900"/>
                  </a:lnTo>
                  <a:close/>
                  <a:moveTo>
                    <a:pt x="6277610" y="3246120"/>
                  </a:moveTo>
                  <a:cubicBezTo>
                    <a:pt x="6240780" y="3230880"/>
                    <a:pt x="6207760" y="3208020"/>
                    <a:pt x="6179820" y="3180080"/>
                  </a:cubicBezTo>
                  <a:cubicBezTo>
                    <a:pt x="6151880" y="3152140"/>
                    <a:pt x="6129020" y="3119120"/>
                    <a:pt x="6113780" y="3082290"/>
                  </a:cubicBezTo>
                  <a:cubicBezTo>
                    <a:pt x="6109970" y="3073400"/>
                    <a:pt x="6107430" y="3064510"/>
                    <a:pt x="6103620" y="3055620"/>
                  </a:cubicBezTo>
                  <a:lnTo>
                    <a:pt x="6103620" y="2933700"/>
                  </a:lnTo>
                  <a:cubicBezTo>
                    <a:pt x="6103620" y="2150110"/>
                    <a:pt x="5798820" y="1413510"/>
                    <a:pt x="5245100" y="859790"/>
                  </a:cubicBezTo>
                  <a:cubicBezTo>
                    <a:pt x="4691380" y="304800"/>
                    <a:pt x="3954780" y="0"/>
                    <a:pt x="3171190" y="0"/>
                  </a:cubicBezTo>
                  <a:cubicBezTo>
                    <a:pt x="2387600" y="0"/>
                    <a:pt x="1651000" y="304800"/>
                    <a:pt x="1097280" y="858520"/>
                  </a:cubicBezTo>
                  <a:cubicBezTo>
                    <a:pt x="543560" y="1413510"/>
                    <a:pt x="238760" y="2150110"/>
                    <a:pt x="238760" y="2933700"/>
                  </a:cubicBezTo>
                  <a:lnTo>
                    <a:pt x="238760" y="5267960"/>
                  </a:lnTo>
                  <a:cubicBezTo>
                    <a:pt x="236220" y="5276850"/>
                    <a:pt x="232410" y="5285740"/>
                    <a:pt x="228600" y="5294630"/>
                  </a:cubicBezTo>
                  <a:cubicBezTo>
                    <a:pt x="213360" y="5331460"/>
                    <a:pt x="190500" y="5364480"/>
                    <a:pt x="162560" y="5392420"/>
                  </a:cubicBezTo>
                  <a:cubicBezTo>
                    <a:pt x="134620" y="5420360"/>
                    <a:pt x="101600" y="5443220"/>
                    <a:pt x="64770" y="5458460"/>
                  </a:cubicBezTo>
                  <a:cubicBezTo>
                    <a:pt x="43180" y="5467350"/>
                    <a:pt x="21590" y="5473700"/>
                    <a:pt x="0" y="5477510"/>
                  </a:cubicBezTo>
                  <a:cubicBezTo>
                    <a:pt x="22860" y="5481320"/>
                    <a:pt x="44450" y="5487670"/>
                    <a:pt x="64770" y="5496560"/>
                  </a:cubicBezTo>
                  <a:cubicBezTo>
                    <a:pt x="101600" y="5511800"/>
                    <a:pt x="134620" y="5534660"/>
                    <a:pt x="162560" y="5562600"/>
                  </a:cubicBezTo>
                  <a:cubicBezTo>
                    <a:pt x="190500" y="5590541"/>
                    <a:pt x="213360" y="5623560"/>
                    <a:pt x="228600" y="5660391"/>
                  </a:cubicBezTo>
                  <a:cubicBezTo>
                    <a:pt x="232410" y="5669281"/>
                    <a:pt x="234950" y="5678170"/>
                    <a:pt x="238760" y="5687061"/>
                  </a:cubicBezTo>
                  <a:lnTo>
                    <a:pt x="238760" y="5805170"/>
                  </a:lnTo>
                  <a:cubicBezTo>
                    <a:pt x="238760" y="6588761"/>
                    <a:pt x="543560" y="7325361"/>
                    <a:pt x="1097280" y="7879080"/>
                  </a:cubicBezTo>
                  <a:cubicBezTo>
                    <a:pt x="1651000" y="8432800"/>
                    <a:pt x="2387600" y="8737600"/>
                    <a:pt x="3171190" y="8737600"/>
                  </a:cubicBezTo>
                  <a:cubicBezTo>
                    <a:pt x="3954780" y="8737600"/>
                    <a:pt x="4691380" y="8432800"/>
                    <a:pt x="5245100" y="7879080"/>
                  </a:cubicBezTo>
                  <a:cubicBezTo>
                    <a:pt x="5798820" y="7325361"/>
                    <a:pt x="6103620" y="6588761"/>
                    <a:pt x="6103620" y="5805170"/>
                  </a:cubicBezTo>
                  <a:lnTo>
                    <a:pt x="6103620" y="3474720"/>
                  </a:lnTo>
                  <a:cubicBezTo>
                    <a:pt x="6106160" y="3465830"/>
                    <a:pt x="6109970" y="3456940"/>
                    <a:pt x="6113780" y="3448050"/>
                  </a:cubicBezTo>
                  <a:cubicBezTo>
                    <a:pt x="6129020" y="3411220"/>
                    <a:pt x="6151880" y="3378200"/>
                    <a:pt x="6179820" y="3350260"/>
                  </a:cubicBezTo>
                  <a:cubicBezTo>
                    <a:pt x="6207760" y="3322320"/>
                    <a:pt x="6240780" y="3299460"/>
                    <a:pt x="6277610" y="3284220"/>
                  </a:cubicBezTo>
                  <a:cubicBezTo>
                    <a:pt x="6299200" y="3275330"/>
                    <a:pt x="6320790" y="3268980"/>
                    <a:pt x="6342380" y="3265170"/>
                  </a:cubicBezTo>
                  <a:cubicBezTo>
                    <a:pt x="6320790" y="3261360"/>
                    <a:pt x="6299200" y="3255010"/>
                    <a:pt x="6277610" y="3246120"/>
                  </a:cubicBezTo>
                  <a:close/>
                  <a:moveTo>
                    <a:pt x="5232400" y="7865110"/>
                  </a:moveTo>
                  <a:cubicBezTo>
                    <a:pt x="4682490" y="8415020"/>
                    <a:pt x="3949700" y="8718550"/>
                    <a:pt x="3171190" y="8718550"/>
                  </a:cubicBezTo>
                  <a:cubicBezTo>
                    <a:pt x="2392680" y="8718550"/>
                    <a:pt x="1661160" y="8415020"/>
                    <a:pt x="1109980" y="7865110"/>
                  </a:cubicBezTo>
                  <a:cubicBezTo>
                    <a:pt x="560070" y="7315200"/>
                    <a:pt x="256540" y="6582410"/>
                    <a:pt x="256540" y="5803900"/>
                  </a:cubicBezTo>
                  <a:lnTo>
                    <a:pt x="256540" y="5685790"/>
                  </a:lnTo>
                  <a:cubicBezTo>
                    <a:pt x="259080" y="5676900"/>
                    <a:pt x="262890" y="5668010"/>
                    <a:pt x="266700" y="5659120"/>
                  </a:cubicBezTo>
                  <a:cubicBezTo>
                    <a:pt x="281940" y="5622290"/>
                    <a:pt x="304800" y="5589270"/>
                    <a:pt x="332740" y="5561330"/>
                  </a:cubicBezTo>
                  <a:cubicBezTo>
                    <a:pt x="360680" y="5533390"/>
                    <a:pt x="393700" y="5510530"/>
                    <a:pt x="430530" y="5495290"/>
                  </a:cubicBezTo>
                  <a:cubicBezTo>
                    <a:pt x="452120" y="5486400"/>
                    <a:pt x="473710" y="5480050"/>
                    <a:pt x="495300" y="5476240"/>
                  </a:cubicBezTo>
                  <a:cubicBezTo>
                    <a:pt x="472440" y="5472430"/>
                    <a:pt x="450850" y="5466080"/>
                    <a:pt x="430530" y="5457190"/>
                  </a:cubicBezTo>
                  <a:cubicBezTo>
                    <a:pt x="393700" y="5441950"/>
                    <a:pt x="360680" y="5419090"/>
                    <a:pt x="332740" y="5391150"/>
                  </a:cubicBezTo>
                  <a:cubicBezTo>
                    <a:pt x="304800" y="5363209"/>
                    <a:pt x="281940" y="5330190"/>
                    <a:pt x="266700" y="5293359"/>
                  </a:cubicBezTo>
                  <a:cubicBezTo>
                    <a:pt x="262890" y="5284469"/>
                    <a:pt x="260350" y="5275580"/>
                    <a:pt x="256540" y="5266689"/>
                  </a:cubicBezTo>
                  <a:lnTo>
                    <a:pt x="256540" y="2933700"/>
                  </a:lnTo>
                  <a:cubicBezTo>
                    <a:pt x="256540" y="2155190"/>
                    <a:pt x="560070" y="1423670"/>
                    <a:pt x="1109980" y="872490"/>
                  </a:cubicBezTo>
                  <a:cubicBezTo>
                    <a:pt x="1659890" y="322580"/>
                    <a:pt x="2392680" y="19050"/>
                    <a:pt x="3171190" y="19050"/>
                  </a:cubicBezTo>
                  <a:cubicBezTo>
                    <a:pt x="3949700" y="19050"/>
                    <a:pt x="4681220" y="322580"/>
                    <a:pt x="5232400" y="872490"/>
                  </a:cubicBezTo>
                  <a:cubicBezTo>
                    <a:pt x="5782310" y="1422400"/>
                    <a:pt x="6085840" y="2155190"/>
                    <a:pt x="6085840" y="2933700"/>
                  </a:cubicBezTo>
                  <a:lnTo>
                    <a:pt x="6085840" y="3056890"/>
                  </a:lnTo>
                  <a:cubicBezTo>
                    <a:pt x="6083300" y="3065780"/>
                    <a:pt x="6079490" y="3074670"/>
                    <a:pt x="6075680" y="3083560"/>
                  </a:cubicBezTo>
                  <a:cubicBezTo>
                    <a:pt x="6060440" y="3120390"/>
                    <a:pt x="6037580" y="3153410"/>
                    <a:pt x="6009640" y="3181350"/>
                  </a:cubicBezTo>
                  <a:cubicBezTo>
                    <a:pt x="5981700" y="3209290"/>
                    <a:pt x="5948680" y="3232150"/>
                    <a:pt x="5911850" y="3247390"/>
                  </a:cubicBezTo>
                  <a:cubicBezTo>
                    <a:pt x="5890260" y="3256280"/>
                    <a:pt x="5868670" y="3262630"/>
                    <a:pt x="5847080" y="3266440"/>
                  </a:cubicBezTo>
                  <a:cubicBezTo>
                    <a:pt x="5869940" y="3270250"/>
                    <a:pt x="5891530" y="3276600"/>
                    <a:pt x="5911850" y="3285490"/>
                  </a:cubicBezTo>
                  <a:cubicBezTo>
                    <a:pt x="5948680" y="3300730"/>
                    <a:pt x="5981700" y="3323590"/>
                    <a:pt x="6009640" y="3351530"/>
                  </a:cubicBezTo>
                  <a:cubicBezTo>
                    <a:pt x="6037580" y="3379470"/>
                    <a:pt x="6060440" y="3412490"/>
                    <a:pt x="6075680" y="3449320"/>
                  </a:cubicBezTo>
                  <a:cubicBezTo>
                    <a:pt x="6079490" y="3458211"/>
                    <a:pt x="6082030" y="3467100"/>
                    <a:pt x="6085840" y="3475991"/>
                  </a:cubicBezTo>
                  <a:lnTo>
                    <a:pt x="6085840" y="5803900"/>
                  </a:lnTo>
                  <a:cubicBezTo>
                    <a:pt x="6085840" y="6582410"/>
                    <a:pt x="5782310" y="7313930"/>
                    <a:pt x="5232400" y="7865110"/>
                  </a:cubicBezTo>
                  <a:close/>
                </a:path>
              </a:pathLst>
            </a:custGeom>
            <a:solidFill>
              <a:srgbClr val="3A5F7D"/>
            </a:solidFill>
          </p:spPr>
        </p:sp>
      </p:grpSp>
      <p:sp>
        <p:nvSpPr>
          <p:cNvPr name="AutoShape 7" id="7"/>
          <p:cNvSpPr/>
          <p:nvPr/>
        </p:nvSpPr>
        <p:spPr>
          <a:xfrm flipV="true">
            <a:off x="4856815" y="9014424"/>
            <a:ext cx="11217005" cy="9525"/>
          </a:xfrm>
          <a:prstGeom prst="line">
            <a:avLst/>
          </a:prstGeom>
          <a:ln cap="flat" w="19050">
            <a:solidFill>
              <a:srgbClr val="3A5F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true" rot="0">
            <a:off x="-1572494" y="-1186685"/>
            <a:ext cx="5755226" cy="3477978"/>
          </a:xfrm>
          <a:custGeom>
            <a:avLst/>
            <a:gdLst/>
            <a:ahLst/>
            <a:cxnLst/>
            <a:rect r="r" b="b" t="t" l="l"/>
            <a:pathLst>
              <a:path h="3477978" w="5755226">
                <a:moveTo>
                  <a:pt x="0" y="3477978"/>
                </a:moveTo>
                <a:lnTo>
                  <a:pt x="5755226" y="3477978"/>
                </a:lnTo>
                <a:lnTo>
                  <a:pt x="5755226" y="0"/>
                </a:lnTo>
                <a:lnTo>
                  <a:pt x="0" y="0"/>
                </a:lnTo>
                <a:lnTo>
                  <a:pt x="0" y="347797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6401083" y="-184286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2017078" y="2390934"/>
                </a:moveTo>
                <a:lnTo>
                  <a:pt x="0" y="2390934"/>
                </a:lnTo>
                <a:lnTo>
                  <a:pt x="0" y="0"/>
                </a:lnTo>
                <a:lnTo>
                  <a:pt x="2017078" y="0"/>
                </a:lnTo>
                <a:lnTo>
                  <a:pt x="2017078" y="239093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0" y="1028180"/>
            <a:ext cx="5407236" cy="1966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93"/>
              </a:lnSpc>
            </a:pPr>
            <a:r>
              <a:rPr lang="en-US" b="true" sz="5638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PROBLEM STATEMENT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77756" y="1248254"/>
            <a:ext cx="13010925" cy="7300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8"/>
              </a:lnSpc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Man</a:t>
            </a: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ual identification of white blood cell subtypes from microscopic images can be time-consuming and depends on expert observation.</a:t>
            </a:r>
          </a:p>
          <a:p>
            <a:pPr algn="just">
              <a:lnSpc>
                <a:spcPts val="4478"/>
              </a:lnSpc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The project addresses the need for an automated image-based system that can:</a:t>
            </a:r>
          </a:p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Detect cell-like regions from a blood-cell image.</a:t>
            </a:r>
          </a:p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Identify the WBC subtype automatically.</a:t>
            </a:r>
          </a:p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Classify cells into four major subtypes.</a:t>
            </a:r>
          </a:p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Provide the number of detected cells.</a:t>
            </a:r>
          </a:p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Display the detected cells with their predicted labels.</a:t>
            </a:r>
          </a:p>
          <a:p>
            <a:pPr algn="just">
              <a:lnSpc>
                <a:spcPts val="4478"/>
              </a:lnSpc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Four target subtypes:</a:t>
            </a:r>
          </a:p>
          <a:p>
            <a:pPr algn="just">
              <a:lnSpc>
                <a:spcPts val="4478"/>
              </a:lnSpc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Eosinophil | Lymphocyte | Monocyte | Neutrophil</a:t>
            </a:r>
          </a:p>
          <a:p>
            <a:pPr algn="just">
              <a:lnSpc>
                <a:spcPts val="4478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338263" y="8769956"/>
            <a:ext cx="3470928" cy="431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i="true">
                <a:solidFill>
                  <a:srgbClr val="3A5F7D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reallygreatsite.com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225283" y="8668356"/>
            <a:ext cx="724455" cy="54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40"/>
              </a:lnSpc>
            </a:pPr>
            <a:r>
              <a:rPr lang="en-US" sz="31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56815" y="398562"/>
            <a:ext cx="8631082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OBJECTIVES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1861" y="2494817"/>
            <a:ext cx="15359221" cy="1118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8"/>
              </a:lnSpc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To</a:t>
            </a: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develop an automated computer-vision and deep-learning system for identifying WBC subtypes from microscopic images.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4270881" y="8126989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5633392" y="0"/>
                </a:moveTo>
                <a:lnTo>
                  <a:pt x="0" y="0"/>
                </a:lnTo>
                <a:lnTo>
                  <a:pt x="0" y="3404352"/>
                </a:lnTo>
                <a:lnTo>
                  <a:pt x="5633392" y="3404352"/>
                </a:lnTo>
                <a:lnTo>
                  <a:pt x="56333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787996" y="8126989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0" y="0"/>
                </a:moveTo>
                <a:lnTo>
                  <a:pt x="5633392" y="0"/>
                </a:lnTo>
                <a:lnTo>
                  <a:pt x="5633392" y="3404352"/>
                </a:lnTo>
                <a:lnTo>
                  <a:pt x="0" y="3404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flipV="true">
            <a:off x="4856815" y="9014424"/>
            <a:ext cx="11217005" cy="9525"/>
          </a:xfrm>
          <a:prstGeom prst="line">
            <a:avLst/>
          </a:prstGeom>
          <a:ln cap="flat" w="19050">
            <a:solidFill>
              <a:srgbClr val="3A5F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338263" y="8769956"/>
            <a:ext cx="3470928" cy="431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i="true">
                <a:solidFill>
                  <a:srgbClr val="3A5F7D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reallygreatsite.com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25283" y="8668356"/>
            <a:ext cx="724455" cy="54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40"/>
              </a:lnSpc>
            </a:pPr>
            <a:r>
              <a:rPr lang="en-US" sz="31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04</a:t>
            </a:r>
          </a:p>
        </p:txBody>
      </p:sp>
      <p:sp>
        <p:nvSpPr>
          <p:cNvPr name="Freeform 9" id="9"/>
          <p:cNvSpPr/>
          <p:nvPr/>
        </p:nvSpPr>
        <p:spPr>
          <a:xfrm flipH="false" flipV="true" rot="0">
            <a:off x="-130161" y="-149248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0" y="2390934"/>
                </a:moveTo>
                <a:lnTo>
                  <a:pt x="2017078" y="2390934"/>
                </a:lnTo>
                <a:lnTo>
                  <a:pt x="2017078" y="0"/>
                </a:lnTo>
                <a:lnTo>
                  <a:pt x="0" y="0"/>
                </a:lnTo>
                <a:lnTo>
                  <a:pt x="0" y="239093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6401083" y="-184286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2017078" y="2390934"/>
                </a:moveTo>
                <a:lnTo>
                  <a:pt x="0" y="2390934"/>
                </a:lnTo>
                <a:lnTo>
                  <a:pt x="0" y="0"/>
                </a:lnTo>
                <a:lnTo>
                  <a:pt x="2017078" y="0"/>
                </a:lnTo>
                <a:lnTo>
                  <a:pt x="2017078" y="239093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38263" y="4156635"/>
            <a:ext cx="13010925" cy="3928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To prepare and process the blood-cell image dataset.</a:t>
            </a:r>
          </a:p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To extract meaningful visual features from blood-cell images.</a:t>
            </a:r>
          </a:p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To classify WBCs into four subtypes.</a:t>
            </a:r>
          </a:p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To detect individual cell-like regions in an uploaded image.</a:t>
            </a:r>
          </a:p>
          <a:p>
            <a:pPr algn="just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To predict the subtype of each detected region.</a:t>
            </a:r>
          </a:p>
          <a:p>
            <a:pPr algn="just">
              <a:lnSpc>
                <a:spcPts val="4478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4856815" y="9014424"/>
            <a:ext cx="11217005" cy="9525"/>
          </a:xfrm>
          <a:prstGeom prst="line">
            <a:avLst/>
          </a:prstGeom>
          <a:ln cap="flat" w="19050">
            <a:solidFill>
              <a:srgbClr val="3A5F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true" flipV="false" rot="0">
            <a:off x="16403986" y="7805142"/>
            <a:ext cx="2756130" cy="2807170"/>
          </a:xfrm>
          <a:custGeom>
            <a:avLst/>
            <a:gdLst/>
            <a:ahLst/>
            <a:cxnLst/>
            <a:rect r="r" b="b" t="t" l="l"/>
            <a:pathLst>
              <a:path h="2807170" w="2756130">
                <a:moveTo>
                  <a:pt x="2756131" y="0"/>
                </a:moveTo>
                <a:lnTo>
                  <a:pt x="0" y="0"/>
                </a:lnTo>
                <a:lnTo>
                  <a:pt x="0" y="2807170"/>
                </a:lnTo>
                <a:lnTo>
                  <a:pt x="2756131" y="2807170"/>
                </a:lnTo>
                <a:lnTo>
                  <a:pt x="275613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30161" y="-149248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0" y="2390934"/>
                </a:moveTo>
                <a:lnTo>
                  <a:pt x="2017078" y="2390934"/>
                </a:lnTo>
                <a:lnTo>
                  <a:pt x="2017078" y="0"/>
                </a:lnTo>
                <a:lnTo>
                  <a:pt x="0" y="0"/>
                </a:lnTo>
                <a:lnTo>
                  <a:pt x="0" y="239093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10905" y="451591"/>
            <a:ext cx="8266190" cy="1475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67"/>
              </a:lnSpc>
            </a:pPr>
            <a:r>
              <a:rPr lang="en-US" b="true" sz="8619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METODHOLOGY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696495" y="2929472"/>
            <a:ext cx="15188871" cy="1118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8"/>
              </a:lnSpc>
            </a:pPr>
            <a:r>
              <a:rPr lang="en-US" sz="3199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Dataset Preparat</a:t>
            </a:r>
            <a:r>
              <a:rPr lang="en-US" b="true" sz="3199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ion:</a:t>
            </a: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The blood-cell dataset is loaded, separated into training and testing images, and prepared for processing.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04148" y="4863978"/>
            <a:ext cx="14973565" cy="1118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8"/>
              </a:lnSpc>
            </a:pPr>
            <a:r>
              <a:rPr lang="en-US" sz="3199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Feat</a:t>
            </a:r>
            <a:r>
              <a:rPr lang="en-US" b="true" sz="3199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ure Extraction:</a:t>
            </a: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Pretrained DenseNet121 is used to extract important visual features from the blood-cell images.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78172" y="2891372"/>
            <a:ext cx="1560142" cy="105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3"/>
              </a:lnSpc>
            </a:pPr>
            <a:r>
              <a:rPr lang="en-US" b="true" sz="6202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01.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78172" y="4825878"/>
            <a:ext cx="1560142" cy="105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3"/>
              </a:lnSpc>
            </a:pPr>
            <a:r>
              <a:rPr lang="en-US" b="true" sz="6202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02.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5840" y="6635537"/>
            <a:ext cx="1560142" cy="105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3"/>
              </a:lnSpc>
            </a:pPr>
            <a:r>
              <a:rPr lang="en-US" b="true" sz="6202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03.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4856815" y="9014424"/>
            <a:ext cx="11217005" cy="9525"/>
          </a:xfrm>
          <a:prstGeom prst="line">
            <a:avLst/>
          </a:prstGeom>
          <a:ln cap="flat" w="19050">
            <a:solidFill>
              <a:srgbClr val="3A5F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6225283" y="8668356"/>
            <a:ext cx="724455" cy="54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40"/>
              </a:lnSpc>
            </a:pPr>
            <a:r>
              <a:rPr lang="en-US" sz="31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06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824724" y="5058482"/>
            <a:ext cx="2378604" cy="2422652"/>
          </a:xfrm>
          <a:custGeom>
            <a:avLst/>
            <a:gdLst/>
            <a:ahLst/>
            <a:cxnLst/>
            <a:rect r="r" b="b" t="t" l="l"/>
            <a:pathLst>
              <a:path h="2422652" w="2378604">
                <a:moveTo>
                  <a:pt x="0" y="0"/>
                </a:moveTo>
                <a:lnTo>
                  <a:pt x="2378604" y="0"/>
                </a:lnTo>
                <a:lnTo>
                  <a:pt x="2378604" y="2422652"/>
                </a:lnTo>
                <a:lnTo>
                  <a:pt x="0" y="24226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14332263" y="-1088660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5633392" y="3404352"/>
                </a:moveTo>
                <a:lnTo>
                  <a:pt x="0" y="3404352"/>
                </a:lnTo>
                <a:lnTo>
                  <a:pt x="0" y="0"/>
                </a:lnTo>
                <a:lnTo>
                  <a:pt x="5633392" y="0"/>
                </a:lnTo>
                <a:lnTo>
                  <a:pt x="5633392" y="340435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6734120" y="1104366"/>
            <a:ext cx="2378604" cy="2422652"/>
          </a:xfrm>
          <a:custGeom>
            <a:avLst/>
            <a:gdLst/>
            <a:ahLst/>
            <a:cxnLst/>
            <a:rect r="r" b="b" t="t" l="l"/>
            <a:pathLst>
              <a:path h="2422652" w="2378604">
                <a:moveTo>
                  <a:pt x="2378604" y="2422652"/>
                </a:moveTo>
                <a:lnTo>
                  <a:pt x="0" y="2422652"/>
                </a:lnTo>
                <a:lnTo>
                  <a:pt x="0" y="0"/>
                </a:lnTo>
                <a:lnTo>
                  <a:pt x="2378604" y="0"/>
                </a:lnTo>
                <a:lnTo>
                  <a:pt x="2378604" y="24226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949857" y="6602600"/>
            <a:ext cx="14973565" cy="1680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8"/>
              </a:lnSpc>
            </a:pPr>
            <a:r>
              <a:rPr lang="en-US" sz="3199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Feat</a:t>
            </a:r>
            <a:r>
              <a:rPr lang="en-US" b="true" sz="3199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ure Extraction:</a:t>
            </a: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Pretrained DenseNet121 is used to extract important visual features from the blood-cell images.</a:t>
            </a:r>
          </a:p>
          <a:p>
            <a:pPr algn="just">
              <a:lnSpc>
                <a:spcPts val="4478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6403986" y="7805142"/>
            <a:ext cx="2756130" cy="2807170"/>
          </a:xfrm>
          <a:custGeom>
            <a:avLst/>
            <a:gdLst/>
            <a:ahLst/>
            <a:cxnLst/>
            <a:rect r="r" b="b" t="t" l="l"/>
            <a:pathLst>
              <a:path h="2807170" w="2756130">
                <a:moveTo>
                  <a:pt x="2756131" y="0"/>
                </a:moveTo>
                <a:lnTo>
                  <a:pt x="0" y="0"/>
                </a:lnTo>
                <a:lnTo>
                  <a:pt x="0" y="2807170"/>
                </a:lnTo>
                <a:lnTo>
                  <a:pt x="2756131" y="2807170"/>
                </a:lnTo>
                <a:lnTo>
                  <a:pt x="275613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4856815" y="9014424"/>
            <a:ext cx="11217005" cy="9525"/>
          </a:xfrm>
          <a:prstGeom prst="line">
            <a:avLst/>
          </a:prstGeom>
          <a:ln cap="flat" w="19050">
            <a:solidFill>
              <a:srgbClr val="3A5F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89425" y="540627"/>
            <a:ext cx="15498085" cy="8717673"/>
          </a:xfrm>
          <a:custGeom>
            <a:avLst/>
            <a:gdLst/>
            <a:ahLst/>
            <a:cxnLst/>
            <a:rect r="r" b="b" t="t" l="l"/>
            <a:pathLst>
              <a:path h="8717673" w="15498085">
                <a:moveTo>
                  <a:pt x="0" y="0"/>
                </a:moveTo>
                <a:lnTo>
                  <a:pt x="15498085" y="0"/>
                </a:lnTo>
                <a:lnTo>
                  <a:pt x="15498085" y="8717673"/>
                </a:lnTo>
                <a:lnTo>
                  <a:pt x="0" y="87176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572494" y="-1186685"/>
            <a:ext cx="5755226" cy="3477978"/>
          </a:xfrm>
          <a:custGeom>
            <a:avLst/>
            <a:gdLst/>
            <a:ahLst/>
            <a:cxnLst/>
            <a:rect r="r" b="b" t="t" l="l"/>
            <a:pathLst>
              <a:path h="3477978" w="5755226">
                <a:moveTo>
                  <a:pt x="0" y="3477978"/>
                </a:moveTo>
                <a:lnTo>
                  <a:pt x="5755226" y="3477978"/>
                </a:lnTo>
                <a:lnTo>
                  <a:pt x="5755226" y="0"/>
                </a:lnTo>
                <a:lnTo>
                  <a:pt x="0" y="0"/>
                </a:lnTo>
                <a:lnTo>
                  <a:pt x="0" y="347797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225283" y="8668356"/>
            <a:ext cx="724455" cy="54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40"/>
              </a:lnSpc>
            </a:pPr>
            <a:r>
              <a:rPr lang="en-US" sz="31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87996" y="8126989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0" y="0"/>
                </a:moveTo>
                <a:lnTo>
                  <a:pt x="5633392" y="0"/>
                </a:lnTo>
                <a:lnTo>
                  <a:pt x="5633392" y="3404352"/>
                </a:lnTo>
                <a:lnTo>
                  <a:pt x="0" y="3404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4856815" y="9014424"/>
            <a:ext cx="11217005" cy="9525"/>
          </a:xfrm>
          <a:prstGeom prst="line">
            <a:avLst/>
          </a:prstGeom>
          <a:ln cap="flat" w="19050">
            <a:solidFill>
              <a:srgbClr val="3A5F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true" flipV="true" rot="0">
            <a:off x="16401083" y="-184286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2017078" y="2390934"/>
                </a:moveTo>
                <a:lnTo>
                  <a:pt x="0" y="2390934"/>
                </a:lnTo>
                <a:lnTo>
                  <a:pt x="0" y="0"/>
                </a:lnTo>
                <a:lnTo>
                  <a:pt x="2017078" y="0"/>
                </a:lnTo>
                <a:lnTo>
                  <a:pt x="2017078" y="239093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4488432" y="-425092"/>
            <a:ext cx="1656227" cy="1686898"/>
          </a:xfrm>
          <a:custGeom>
            <a:avLst/>
            <a:gdLst/>
            <a:ahLst/>
            <a:cxnLst/>
            <a:rect r="r" b="b" t="t" l="l"/>
            <a:pathLst>
              <a:path h="1686898" w="1656227">
                <a:moveTo>
                  <a:pt x="0" y="1686898"/>
                </a:moveTo>
                <a:lnTo>
                  <a:pt x="1656227" y="1686898"/>
                </a:lnTo>
                <a:lnTo>
                  <a:pt x="1656227" y="0"/>
                </a:lnTo>
                <a:lnTo>
                  <a:pt x="0" y="0"/>
                </a:lnTo>
                <a:lnTo>
                  <a:pt x="0" y="168689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33974" y="1644757"/>
            <a:ext cx="6422844" cy="5754726"/>
          </a:xfrm>
          <a:custGeom>
            <a:avLst/>
            <a:gdLst/>
            <a:ahLst/>
            <a:cxnLst/>
            <a:rect r="r" b="b" t="t" l="l"/>
            <a:pathLst>
              <a:path h="5754726" w="6422844">
                <a:moveTo>
                  <a:pt x="0" y="0"/>
                </a:moveTo>
                <a:lnTo>
                  <a:pt x="6422844" y="0"/>
                </a:lnTo>
                <a:lnTo>
                  <a:pt x="6422844" y="5754725"/>
                </a:lnTo>
                <a:lnTo>
                  <a:pt x="0" y="57547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473501" y="1472282"/>
            <a:ext cx="9936121" cy="6099674"/>
          </a:xfrm>
          <a:custGeom>
            <a:avLst/>
            <a:gdLst/>
            <a:ahLst/>
            <a:cxnLst/>
            <a:rect r="r" b="b" t="t" l="l"/>
            <a:pathLst>
              <a:path h="6099674" w="9936121">
                <a:moveTo>
                  <a:pt x="0" y="0"/>
                </a:moveTo>
                <a:lnTo>
                  <a:pt x="9936121" y="0"/>
                </a:lnTo>
                <a:lnTo>
                  <a:pt x="9936121" y="6099675"/>
                </a:lnTo>
                <a:lnTo>
                  <a:pt x="0" y="60996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225283" y="8668356"/>
            <a:ext cx="724455" cy="54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40"/>
              </a:lnSpc>
            </a:pPr>
            <a:r>
              <a:rPr lang="en-US" sz="31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87996" y="8126989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0" y="0"/>
                </a:moveTo>
                <a:lnTo>
                  <a:pt x="5633392" y="0"/>
                </a:lnTo>
                <a:lnTo>
                  <a:pt x="5633392" y="3404352"/>
                </a:lnTo>
                <a:lnTo>
                  <a:pt x="0" y="3404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4856815" y="9014424"/>
            <a:ext cx="11217005" cy="9525"/>
          </a:xfrm>
          <a:prstGeom prst="line">
            <a:avLst/>
          </a:prstGeom>
          <a:ln cap="flat" w="19050">
            <a:solidFill>
              <a:srgbClr val="3A5F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true" flipV="true" rot="0">
            <a:off x="16401083" y="-184286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2017078" y="2390934"/>
                </a:moveTo>
                <a:lnTo>
                  <a:pt x="0" y="2390934"/>
                </a:lnTo>
                <a:lnTo>
                  <a:pt x="0" y="0"/>
                </a:lnTo>
                <a:lnTo>
                  <a:pt x="2017078" y="0"/>
                </a:lnTo>
                <a:lnTo>
                  <a:pt x="2017078" y="239093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4488432" y="-425092"/>
            <a:ext cx="1656227" cy="1686898"/>
          </a:xfrm>
          <a:custGeom>
            <a:avLst/>
            <a:gdLst/>
            <a:ahLst/>
            <a:cxnLst/>
            <a:rect r="r" b="b" t="t" l="l"/>
            <a:pathLst>
              <a:path h="1686898" w="1656227">
                <a:moveTo>
                  <a:pt x="0" y="1686898"/>
                </a:moveTo>
                <a:lnTo>
                  <a:pt x="1656227" y="1686898"/>
                </a:lnTo>
                <a:lnTo>
                  <a:pt x="1656227" y="0"/>
                </a:lnTo>
                <a:lnTo>
                  <a:pt x="0" y="0"/>
                </a:lnTo>
                <a:lnTo>
                  <a:pt x="0" y="168689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95265" y="1723597"/>
            <a:ext cx="11396427" cy="7090874"/>
          </a:xfrm>
          <a:custGeom>
            <a:avLst/>
            <a:gdLst/>
            <a:ahLst/>
            <a:cxnLst/>
            <a:rect r="r" b="b" t="t" l="l"/>
            <a:pathLst>
              <a:path h="7090874" w="11396427">
                <a:moveTo>
                  <a:pt x="0" y="0"/>
                </a:moveTo>
                <a:lnTo>
                  <a:pt x="11396426" y="0"/>
                </a:lnTo>
                <a:lnTo>
                  <a:pt x="11396426" y="7090873"/>
                </a:lnTo>
                <a:lnTo>
                  <a:pt x="0" y="70908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225283" y="8668356"/>
            <a:ext cx="724455" cy="54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40"/>
              </a:lnSpc>
            </a:pPr>
            <a:r>
              <a:rPr lang="en-US" sz="31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4856815" y="9014424"/>
            <a:ext cx="11217005" cy="9525"/>
          </a:xfrm>
          <a:prstGeom prst="line">
            <a:avLst/>
          </a:prstGeom>
          <a:ln cap="flat" w="19050">
            <a:solidFill>
              <a:srgbClr val="3A5F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true" flipV="false" rot="0">
            <a:off x="16403986" y="7805142"/>
            <a:ext cx="2756130" cy="2807170"/>
          </a:xfrm>
          <a:custGeom>
            <a:avLst/>
            <a:gdLst/>
            <a:ahLst/>
            <a:cxnLst/>
            <a:rect r="r" b="b" t="t" l="l"/>
            <a:pathLst>
              <a:path h="2807170" w="2756130">
                <a:moveTo>
                  <a:pt x="2756131" y="0"/>
                </a:moveTo>
                <a:lnTo>
                  <a:pt x="0" y="0"/>
                </a:lnTo>
                <a:lnTo>
                  <a:pt x="0" y="2807170"/>
                </a:lnTo>
                <a:lnTo>
                  <a:pt x="2756131" y="2807170"/>
                </a:lnTo>
                <a:lnTo>
                  <a:pt x="275613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225283" y="8668356"/>
            <a:ext cx="724455" cy="54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40"/>
              </a:lnSpc>
            </a:pPr>
            <a:r>
              <a:rPr lang="en-US" sz="31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10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0">
            <a:off x="-130161" y="-149248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0" y="2390934"/>
                </a:moveTo>
                <a:lnTo>
                  <a:pt x="2017078" y="2390934"/>
                </a:lnTo>
                <a:lnTo>
                  <a:pt x="2017078" y="0"/>
                </a:lnTo>
                <a:lnTo>
                  <a:pt x="0" y="0"/>
                </a:lnTo>
                <a:lnTo>
                  <a:pt x="0" y="239093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42324" y="200538"/>
            <a:ext cx="12475633" cy="8823411"/>
          </a:xfrm>
          <a:custGeom>
            <a:avLst/>
            <a:gdLst/>
            <a:ahLst/>
            <a:cxnLst/>
            <a:rect r="r" b="b" t="t" l="l"/>
            <a:pathLst>
              <a:path h="8823411" w="12475633">
                <a:moveTo>
                  <a:pt x="0" y="0"/>
                </a:moveTo>
                <a:lnTo>
                  <a:pt x="12475632" y="0"/>
                </a:lnTo>
                <a:lnTo>
                  <a:pt x="12475632" y="8823411"/>
                </a:lnTo>
                <a:lnTo>
                  <a:pt x="0" y="88234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73579" y="1489873"/>
            <a:ext cx="6271223" cy="112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54"/>
              </a:lnSpc>
            </a:pPr>
            <a:r>
              <a:rPr lang="en-US" b="true" sz="6539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ADVANTAGES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8378" y="3997198"/>
            <a:ext cx="8649060" cy="3366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A</a:t>
            </a: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utomated WBC subtype identification.</a:t>
            </a:r>
          </a:p>
          <a:p>
            <a:pPr algn="l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Reduces dependence on completely manual inspection.</a:t>
            </a:r>
          </a:p>
          <a:p>
            <a:pPr algn="l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Produces an annotated image for easy interpretation.</a:t>
            </a:r>
          </a:p>
          <a:p>
            <a:pPr algn="l" marL="690689" indent="-345345" lvl="1">
              <a:lnSpc>
                <a:spcPts val="4478"/>
              </a:lnSpc>
              <a:buFont typeface="Arial"/>
              <a:buChar char="•"/>
            </a:pPr>
            <a:r>
              <a:rPr lang="en-US" sz="31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Uses pretrained deep-learning features.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4856815" y="9014424"/>
            <a:ext cx="11217005" cy="9525"/>
          </a:xfrm>
          <a:prstGeom prst="line">
            <a:avLst/>
          </a:prstGeom>
          <a:ln cap="flat" w="19050">
            <a:solidFill>
              <a:srgbClr val="3A5F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338263" y="8769956"/>
            <a:ext cx="3470928" cy="431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i="true">
                <a:solidFill>
                  <a:srgbClr val="3A5F7D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reallygreatsite.com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6403986" y="7805142"/>
            <a:ext cx="2756130" cy="2807170"/>
          </a:xfrm>
          <a:custGeom>
            <a:avLst/>
            <a:gdLst/>
            <a:ahLst/>
            <a:cxnLst/>
            <a:rect r="r" b="b" t="t" l="l"/>
            <a:pathLst>
              <a:path h="2807170" w="2756130">
                <a:moveTo>
                  <a:pt x="2756131" y="0"/>
                </a:moveTo>
                <a:lnTo>
                  <a:pt x="0" y="0"/>
                </a:lnTo>
                <a:lnTo>
                  <a:pt x="0" y="2807170"/>
                </a:lnTo>
                <a:lnTo>
                  <a:pt x="2756131" y="2807170"/>
                </a:lnTo>
                <a:lnTo>
                  <a:pt x="275613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225283" y="8668356"/>
            <a:ext cx="724455" cy="54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40"/>
              </a:lnSpc>
            </a:pPr>
            <a:r>
              <a:rPr lang="en-US" sz="31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11</a:t>
            </a:r>
          </a:p>
        </p:txBody>
      </p:sp>
      <p:sp>
        <p:nvSpPr>
          <p:cNvPr name="Freeform 8" id="8"/>
          <p:cNvSpPr/>
          <p:nvPr/>
        </p:nvSpPr>
        <p:spPr>
          <a:xfrm flipH="false" flipV="true" rot="0">
            <a:off x="-130161" y="-149248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0" y="2390934"/>
                </a:moveTo>
                <a:lnTo>
                  <a:pt x="2017078" y="2390934"/>
                </a:lnTo>
                <a:lnTo>
                  <a:pt x="2017078" y="0"/>
                </a:lnTo>
                <a:lnTo>
                  <a:pt x="0" y="0"/>
                </a:lnTo>
                <a:lnTo>
                  <a:pt x="0" y="239093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831780" y="1477532"/>
            <a:ext cx="6271223" cy="112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54"/>
              </a:lnSpc>
            </a:pPr>
            <a:r>
              <a:rPr lang="en-US" b="true" sz="6539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LIMITATIONS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98621" y="3928569"/>
            <a:ext cx="8109779" cy="3679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24" indent="-323812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Require more initial set up time</a:t>
            </a:r>
          </a:p>
          <a:p>
            <a:pPr algn="l" marL="647624" indent="-323812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The subtype model is trained for four WBC classes only.</a:t>
            </a:r>
          </a:p>
          <a:p>
            <a:pPr algn="l" marL="647624" indent="-323812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It is not trained to classify RBCs or platelets.</a:t>
            </a:r>
          </a:p>
          <a:p>
            <a:pPr algn="l" marL="647624" indent="-323812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Cell counting depends on the quality of image segmentation.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28459" y="847725"/>
            <a:ext cx="8631082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FUTURE SCOPE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00809" y="3353548"/>
            <a:ext cx="14448928" cy="3513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23426" indent="-361713" lvl="1">
              <a:lnSpc>
                <a:spcPts val="4691"/>
              </a:lnSpc>
              <a:buFont typeface="Arial"/>
              <a:buChar char="•"/>
            </a:pPr>
            <a:r>
              <a:rPr lang="en-US" sz="335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Add more</a:t>
            </a:r>
            <a:r>
              <a:rPr lang="en-US" sz="335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blood-cell classes.</a:t>
            </a:r>
          </a:p>
          <a:p>
            <a:pPr algn="just" marL="723426" indent="-361713" lvl="1">
              <a:lnSpc>
                <a:spcPts val="4691"/>
              </a:lnSpc>
              <a:buFont typeface="Arial"/>
              <a:buChar char="•"/>
            </a:pPr>
            <a:r>
              <a:rPr lang="en-US" sz="335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Develop separate RBC and platelet classification.</a:t>
            </a:r>
          </a:p>
          <a:p>
            <a:pPr algn="just" marL="723426" indent="-361713" lvl="1">
              <a:lnSpc>
                <a:spcPts val="4691"/>
              </a:lnSpc>
              <a:buFont typeface="Arial"/>
              <a:buChar char="•"/>
            </a:pPr>
            <a:r>
              <a:rPr lang="en-US" sz="335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Improve overlapping-cell detection.</a:t>
            </a:r>
          </a:p>
          <a:p>
            <a:pPr algn="just" marL="723426" indent="-361713" lvl="1">
              <a:lnSpc>
                <a:spcPts val="4691"/>
              </a:lnSpc>
              <a:buFont typeface="Arial"/>
              <a:buChar char="•"/>
            </a:pPr>
            <a:r>
              <a:rPr lang="en-US" sz="335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Use larger and more diverse datasets.</a:t>
            </a:r>
          </a:p>
          <a:p>
            <a:pPr algn="just" marL="723426" indent="-361713" lvl="1">
              <a:lnSpc>
                <a:spcPts val="4691"/>
              </a:lnSpc>
              <a:buFont typeface="Arial"/>
              <a:buChar char="•"/>
            </a:pPr>
            <a:r>
              <a:rPr lang="en-US" sz="335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Develop a user-friendly web/mobile interface.</a:t>
            </a:r>
          </a:p>
          <a:p>
            <a:pPr algn="just">
              <a:lnSpc>
                <a:spcPts val="4691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4270881" y="8126989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5633392" y="0"/>
                </a:moveTo>
                <a:lnTo>
                  <a:pt x="0" y="0"/>
                </a:lnTo>
                <a:lnTo>
                  <a:pt x="0" y="3404352"/>
                </a:lnTo>
                <a:lnTo>
                  <a:pt x="5633392" y="3404352"/>
                </a:lnTo>
                <a:lnTo>
                  <a:pt x="56333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flipV="true">
            <a:off x="4856815" y="9014424"/>
            <a:ext cx="11217005" cy="9525"/>
          </a:xfrm>
          <a:prstGeom prst="line">
            <a:avLst/>
          </a:prstGeom>
          <a:ln cap="flat" w="19050">
            <a:solidFill>
              <a:srgbClr val="3A5F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6225283" y="8668356"/>
            <a:ext cx="724455" cy="54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40"/>
              </a:lnSpc>
            </a:pPr>
            <a:r>
              <a:rPr lang="en-US" sz="31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09</a:t>
            </a:r>
          </a:p>
        </p:txBody>
      </p:sp>
      <p:sp>
        <p:nvSpPr>
          <p:cNvPr name="Freeform 7" id="7"/>
          <p:cNvSpPr/>
          <p:nvPr/>
        </p:nvSpPr>
        <p:spPr>
          <a:xfrm flipH="false" flipV="true" rot="0">
            <a:off x="-1572494" y="-1186685"/>
            <a:ext cx="5755226" cy="3477978"/>
          </a:xfrm>
          <a:custGeom>
            <a:avLst/>
            <a:gdLst/>
            <a:ahLst/>
            <a:cxnLst/>
            <a:rect r="r" b="b" t="t" l="l"/>
            <a:pathLst>
              <a:path h="3477978" w="5755226">
                <a:moveTo>
                  <a:pt x="0" y="3477978"/>
                </a:moveTo>
                <a:lnTo>
                  <a:pt x="5755226" y="3477978"/>
                </a:lnTo>
                <a:lnTo>
                  <a:pt x="5755226" y="0"/>
                </a:lnTo>
                <a:lnTo>
                  <a:pt x="0" y="0"/>
                </a:lnTo>
                <a:lnTo>
                  <a:pt x="0" y="347797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-865452" y="1104366"/>
            <a:ext cx="2378604" cy="2422652"/>
          </a:xfrm>
          <a:custGeom>
            <a:avLst/>
            <a:gdLst/>
            <a:ahLst/>
            <a:cxnLst/>
            <a:rect r="r" b="b" t="t" l="l"/>
            <a:pathLst>
              <a:path h="2422652" w="2378604">
                <a:moveTo>
                  <a:pt x="0" y="2422652"/>
                </a:moveTo>
                <a:lnTo>
                  <a:pt x="2378604" y="2422652"/>
                </a:lnTo>
                <a:lnTo>
                  <a:pt x="2378604" y="0"/>
                </a:lnTo>
                <a:lnTo>
                  <a:pt x="0" y="0"/>
                </a:lnTo>
                <a:lnTo>
                  <a:pt x="0" y="242265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15532" y="3012278"/>
            <a:ext cx="8256935" cy="4262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4"/>
              </a:lnSpc>
            </a:pPr>
            <a:r>
              <a:rPr lang="en-US" b="true" sz="14003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6287443" y="7592438"/>
            <a:ext cx="2686140" cy="3184002"/>
          </a:xfrm>
          <a:custGeom>
            <a:avLst/>
            <a:gdLst/>
            <a:ahLst/>
            <a:cxnLst/>
            <a:rect r="r" b="b" t="t" l="l"/>
            <a:pathLst>
              <a:path h="3184002" w="2686140">
                <a:moveTo>
                  <a:pt x="2686139" y="0"/>
                </a:moveTo>
                <a:lnTo>
                  <a:pt x="0" y="0"/>
                </a:lnTo>
                <a:lnTo>
                  <a:pt x="0" y="3184002"/>
                </a:lnTo>
                <a:lnTo>
                  <a:pt x="2686139" y="3184002"/>
                </a:lnTo>
                <a:lnTo>
                  <a:pt x="26861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87443" y="7422745"/>
            <a:ext cx="815830" cy="830937"/>
          </a:xfrm>
          <a:custGeom>
            <a:avLst/>
            <a:gdLst/>
            <a:ahLst/>
            <a:cxnLst/>
            <a:rect r="r" b="b" t="t" l="l"/>
            <a:pathLst>
              <a:path h="830937" w="815830">
                <a:moveTo>
                  <a:pt x="815829" y="0"/>
                </a:moveTo>
                <a:lnTo>
                  <a:pt x="0" y="0"/>
                </a:lnTo>
                <a:lnTo>
                  <a:pt x="0" y="830938"/>
                </a:lnTo>
                <a:lnTo>
                  <a:pt x="815829" y="830938"/>
                </a:lnTo>
                <a:lnTo>
                  <a:pt x="81582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777144" y="-707936"/>
            <a:ext cx="4169756" cy="2519853"/>
          </a:xfrm>
          <a:custGeom>
            <a:avLst/>
            <a:gdLst/>
            <a:ahLst/>
            <a:cxnLst/>
            <a:rect r="r" b="b" t="t" l="l"/>
            <a:pathLst>
              <a:path h="2519853" w="4169756">
                <a:moveTo>
                  <a:pt x="0" y="2519853"/>
                </a:moveTo>
                <a:lnTo>
                  <a:pt x="4169757" y="2519853"/>
                </a:lnTo>
                <a:lnTo>
                  <a:pt x="4169757" y="0"/>
                </a:lnTo>
                <a:lnTo>
                  <a:pt x="0" y="0"/>
                </a:lnTo>
                <a:lnTo>
                  <a:pt x="0" y="251985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895387" y="-707936"/>
            <a:ext cx="4169756" cy="2519853"/>
          </a:xfrm>
          <a:custGeom>
            <a:avLst/>
            <a:gdLst/>
            <a:ahLst/>
            <a:cxnLst/>
            <a:rect r="r" b="b" t="t" l="l"/>
            <a:pathLst>
              <a:path h="2519853" w="4169756">
                <a:moveTo>
                  <a:pt x="4169757" y="2519853"/>
                </a:moveTo>
                <a:lnTo>
                  <a:pt x="0" y="2519853"/>
                </a:lnTo>
                <a:lnTo>
                  <a:pt x="0" y="0"/>
                </a:lnTo>
                <a:lnTo>
                  <a:pt x="4169757" y="0"/>
                </a:lnTo>
                <a:lnTo>
                  <a:pt x="4169757" y="251985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90032" y="7429442"/>
            <a:ext cx="2686140" cy="3184002"/>
          </a:xfrm>
          <a:custGeom>
            <a:avLst/>
            <a:gdLst/>
            <a:ahLst/>
            <a:cxnLst/>
            <a:rect r="r" b="b" t="t" l="l"/>
            <a:pathLst>
              <a:path h="3184002" w="2686140">
                <a:moveTo>
                  <a:pt x="0" y="0"/>
                </a:moveTo>
                <a:lnTo>
                  <a:pt x="2686139" y="0"/>
                </a:lnTo>
                <a:lnTo>
                  <a:pt x="2686139" y="3184002"/>
                </a:lnTo>
                <a:lnTo>
                  <a:pt x="0" y="3184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41701" y="7274722"/>
            <a:ext cx="815830" cy="830937"/>
          </a:xfrm>
          <a:custGeom>
            <a:avLst/>
            <a:gdLst/>
            <a:ahLst/>
            <a:cxnLst/>
            <a:rect r="r" b="b" t="t" l="l"/>
            <a:pathLst>
              <a:path h="830937" w="815830">
                <a:moveTo>
                  <a:pt x="0" y="0"/>
                </a:moveTo>
                <a:lnTo>
                  <a:pt x="815830" y="0"/>
                </a:lnTo>
                <a:lnTo>
                  <a:pt x="815830" y="830937"/>
                </a:lnTo>
                <a:lnTo>
                  <a:pt x="0" y="8309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DAHWmXlcfRI</dc:identifier>
  <dcterms:modified xsi:type="dcterms:W3CDTF">2011-08-01T06:04:30Z</dcterms:modified>
  <cp:revision>1</cp:revision>
  <dc:title>Presentation</dc:title>
</cp:coreProperties>
</file>